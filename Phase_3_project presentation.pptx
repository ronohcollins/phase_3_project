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60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2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2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0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7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9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7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8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9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7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0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  <a:alpha val="93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0C143-A4B8-4FA4-8B2A-2DFD83240C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036D4-4EE2-49BE-B691-1E4C866C4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dc.gov/nchs/index.htm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collins-ronoh-3392319" TargetMode="External"/><Relationship Id="rId2" Type="http://schemas.openxmlformats.org/officeDocument/2006/relationships/hyperlink" Target="mailto:ronohcollins@gmail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0CA2-7A87-58A7-1A29-56702612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H1N1 Vaccine uptake prediction: The 2019 H1N1 Flu and Seasonal Flu survey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188A2B8-B5DF-95E8-01AA-7747BD1B907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049" r="14049"/>
          <a:stretch>
            <a:fillRect/>
          </a:stretch>
        </p:blipFill>
        <p:spPr>
          <a:xfrm>
            <a:off x="5194763" y="987425"/>
            <a:ext cx="6172200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46E3E-7D77-DA13-DB21-7C148048C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Ronoh Collins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ronohcollins@gmail.com</a:t>
            </a:r>
          </a:p>
        </p:txBody>
      </p:sp>
    </p:spTree>
    <p:extLst>
      <p:ext uri="{BB962C8B-B14F-4D97-AF65-F5344CB8AC3E}">
        <p14:creationId xmlns:p14="http://schemas.microsoft.com/office/powerpoint/2010/main" val="365688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27EA-F895-E700-899E-DC0F8994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82906"/>
            <a:ext cx="10515600" cy="1585631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9B771-B13F-6FA7-B981-86F063B49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673753"/>
            <a:ext cx="10515600" cy="34158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project analyses the H1N1 vaccine uptake from the 2019 survey provided by the United States  </a:t>
            </a:r>
            <a:r>
              <a:rPr lang="en-US" u="sng" dirty="0">
                <a:hlinkClick r:id="rId2"/>
              </a:rPr>
              <a:t>National Center for Health Statistics</a:t>
            </a:r>
            <a:r>
              <a:rPr lang="en-US" u="sng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The aim of the study is: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an accurate H1N1 vaccination prediction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Determine demographic, behavioral and health related factors influencing H1N1 vaccination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24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0C23-317A-F01B-452E-1388BE03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82906"/>
            <a:ext cx="10515600" cy="1585631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2F61A-FEDB-63A4-BE77-F78B2F5D4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01073"/>
            <a:ext cx="10515600" cy="3288577"/>
          </a:xfrm>
        </p:spPr>
        <p:txBody>
          <a:bodyPr/>
          <a:lstStyle/>
          <a:p>
            <a:r>
              <a:rPr lang="en-US" dirty="0"/>
              <a:t>The data is composed of: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26708 respondents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35  unique features/factors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78.76% of the respondents did not get vaccinated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source- United states National Flu Survey(NHFS,2009)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1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D694-6278-4E62-59A6-C8920A60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2B50A-2F7D-4C67-07E0-332E88D58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CONTEXT: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False Positive: Predicting that People did get vaccine when they actually did not =&gt; </a:t>
            </a:r>
            <a:r>
              <a:rPr lang="en-US" sz="2400" b="1" dirty="0"/>
              <a:t>BIG PROBLEM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False Negative: Predicting that people did not get vaccine when they actually did get=&gt; </a:t>
            </a:r>
            <a:r>
              <a:rPr lang="en-US" sz="2400" b="1" dirty="0"/>
              <a:t>NOT A BIG PROBLEM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46FD06-0811-280A-7553-8BAA49D21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70" y="625032"/>
            <a:ext cx="5830836" cy="524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2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BFF5-161D-31AF-1312-38313788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Report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683A6-C960-7D02-F046-0FF3973B6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Recall =73.36%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Precision = 48.76%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Accuracy =78%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F1-Score =58.58%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F7D1606-208A-CD78-844E-DF728A511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0815" y="457201"/>
            <a:ext cx="6667018" cy="5403850"/>
          </a:xfrm>
        </p:spPr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A6AD40-5E5B-5237-DDD8-619E893E2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94231"/>
              </p:ext>
            </p:extLst>
          </p:nvPr>
        </p:nvGraphicFramePr>
        <p:xfrm>
          <a:off x="4930816" y="457200"/>
          <a:ext cx="6667019" cy="5403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170">
                  <a:extLst>
                    <a:ext uri="{9D8B030D-6E8A-4147-A177-3AD203B41FA5}">
                      <a16:colId xmlns:a16="http://schemas.microsoft.com/office/drawing/2014/main" val="2951337022"/>
                    </a:ext>
                  </a:extLst>
                </a:gridCol>
                <a:gridCol w="1111170">
                  <a:extLst>
                    <a:ext uri="{9D8B030D-6E8A-4147-A177-3AD203B41FA5}">
                      <a16:colId xmlns:a16="http://schemas.microsoft.com/office/drawing/2014/main" val="2158035163"/>
                    </a:ext>
                  </a:extLst>
                </a:gridCol>
                <a:gridCol w="1122744">
                  <a:extLst>
                    <a:ext uri="{9D8B030D-6E8A-4147-A177-3AD203B41FA5}">
                      <a16:colId xmlns:a16="http://schemas.microsoft.com/office/drawing/2014/main" val="3888242798"/>
                    </a:ext>
                  </a:extLst>
                </a:gridCol>
                <a:gridCol w="1099595">
                  <a:extLst>
                    <a:ext uri="{9D8B030D-6E8A-4147-A177-3AD203B41FA5}">
                      <a16:colId xmlns:a16="http://schemas.microsoft.com/office/drawing/2014/main" val="1804444008"/>
                    </a:ext>
                  </a:extLst>
                </a:gridCol>
                <a:gridCol w="1111170">
                  <a:extLst>
                    <a:ext uri="{9D8B030D-6E8A-4147-A177-3AD203B41FA5}">
                      <a16:colId xmlns:a16="http://schemas.microsoft.com/office/drawing/2014/main" val="3268306461"/>
                    </a:ext>
                  </a:extLst>
                </a:gridCol>
                <a:gridCol w="1111170">
                  <a:extLst>
                    <a:ext uri="{9D8B030D-6E8A-4147-A177-3AD203B41FA5}">
                      <a16:colId xmlns:a16="http://schemas.microsoft.com/office/drawing/2014/main" val="3041015181"/>
                    </a:ext>
                  </a:extLst>
                </a:gridCol>
              </a:tblGrid>
              <a:tr h="900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55826"/>
                  </a:ext>
                </a:extLst>
              </a:tr>
              <a:tr h="900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0.917353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0.79321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0.850777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409132"/>
                  </a:ext>
                </a:extLst>
              </a:tr>
              <a:tr h="90064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0.487647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0.733628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0.585866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810034"/>
                  </a:ext>
                </a:extLst>
              </a:tr>
              <a:tr h="900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0.780607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0.780607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0.780607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0.780607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189340"/>
                  </a:ext>
                </a:extLst>
              </a:tr>
              <a:tr h="900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macro avg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0.7025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0.763419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0.718321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19618"/>
                  </a:ext>
                </a:extLst>
              </a:tr>
              <a:tr h="900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weighted avg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0.826457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0.780607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0.79474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057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94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75281-9C59-514B-2877-1ECF98C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434" y="583894"/>
            <a:ext cx="3851314" cy="12669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H1N1 Vaccine Effectiveness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41C45-C222-6882-AAD4-86A47E5F4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557" y="1200151"/>
            <a:ext cx="4748478" cy="40528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163C4A-3BA0-6578-3D10-56F4629B0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6434" y="2027104"/>
            <a:ext cx="3879982" cy="3800819"/>
          </a:xfrm>
        </p:spPr>
        <p:txBody>
          <a:bodyPr>
            <a:noAutofit/>
          </a:bodyPr>
          <a:lstStyle/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About 44% of individuals belief in H1N1 vaccines’ effectiveness</a:t>
            </a: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More campaigns should be done to encourage more uptake as can be seen on the moderately large numbers of “Don’t Known” group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3020A8-2E66-382F-C1BD-205073411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091" y="583894"/>
            <a:ext cx="5389085" cy="524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3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5FCA-B742-4C75-746C-9C696313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Doctor Recommendation on H1N1 Vaccine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BE8AD-15D7-5566-CBDA-31002B9D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445773" cy="4034928"/>
          </a:xfrm>
        </p:spPr>
        <p:txBody>
          <a:bodyPr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Doctor’s recommendation has more influence in the vaccine uptake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Public health campaigns targeting doctor advice could substantially increase vaccine uptake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F57864-3599-CA20-9504-B79F0C57E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6088" y="649995"/>
            <a:ext cx="5486400" cy="51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38C6-AFF5-4027-6611-59345310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group Vs Vaccination distribution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60A2A7-D6AE-5C7F-AE83-2A3FF24F2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3188" y="1109662"/>
            <a:ext cx="6172200" cy="46291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5E8C8-7844-F8FF-DAE5-4CCC3A43B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Younger population don’t get vaccination and therefore should be the primary target for public health outreach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4853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56AB-83CB-B845-174A-09BDE8B1A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H1N1 Vaccine risk perception distribution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E2E00E-FB5F-E945-BFC0-27FAAB179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5113" y="1228725"/>
            <a:ext cx="5848350" cy="43910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A1589-B0C0-2D27-68F4-F01699A1B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people does belief administration of H1N1 vaccines have low risk on their health.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Low percentages of  individuals perceiving vaccine as low risk(about 67%) is still a barrier to convincing people to be vaccinated and could have informed on the low vaccination</a:t>
            </a:r>
          </a:p>
        </p:txBody>
      </p:sp>
    </p:spTree>
    <p:extLst>
      <p:ext uri="{BB962C8B-B14F-4D97-AF65-F5344CB8AC3E}">
        <p14:creationId xmlns:p14="http://schemas.microsoft.com/office/powerpoint/2010/main" val="23089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9E18B9-1D47-1770-A3AF-97C56D22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6998"/>
            <a:ext cx="10515600" cy="1828799"/>
          </a:xfrm>
        </p:spPr>
        <p:txBody>
          <a:bodyPr/>
          <a:lstStyle/>
          <a:p>
            <a:pPr algn="ctr"/>
            <a:r>
              <a:rPr lang="en-US" dirty="0"/>
              <a:t>Recommendation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EA8E71-BF08-BAAA-4A51-B174405D6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541853"/>
            <a:ext cx="10515600" cy="2547797"/>
          </a:xfrm>
        </p:spPr>
        <p:txBody>
          <a:bodyPr>
            <a:norm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Enhance educational awareness campaigns on vaccines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medical professionals to recommend vaccines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more robust predictive models</a:t>
            </a:r>
          </a:p>
        </p:txBody>
      </p:sp>
    </p:spTree>
    <p:extLst>
      <p:ext uri="{BB962C8B-B14F-4D97-AF65-F5344CB8AC3E}">
        <p14:creationId xmlns:p14="http://schemas.microsoft.com/office/powerpoint/2010/main" val="3204321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3227-CFF2-D342-18EC-9F58A07C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88021"/>
            <a:ext cx="10515600" cy="1551008"/>
          </a:xfrm>
        </p:spPr>
        <p:txBody>
          <a:bodyPr/>
          <a:lstStyle/>
          <a:p>
            <a:pPr algn="ctr"/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20F4-18A9-26CB-A216-DB08E6FCE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48077"/>
            <a:ext cx="10515600" cy="244157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Build more accurate models using other advanced machine learning modelling approaches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Get latest data on the H1N1 vaccines</a:t>
            </a:r>
          </a:p>
        </p:txBody>
      </p:sp>
    </p:spTree>
    <p:extLst>
      <p:ext uri="{BB962C8B-B14F-4D97-AF65-F5344CB8AC3E}">
        <p14:creationId xmlns:p14="http://schemas.microsoft.com/office/powerpoint/2010/main" val="372425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0E36-9CBC-D2D7-106E-DC3FFFBB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159288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391D1-9669-5949-9070-B2512C6F6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46025"/>
            <a:ext cx="10515600" cy="2443625"/>
          </a:xfrm>
        </p:spPr>
        <p:txBody>
          <a:bodyPr>
            <a:normAutofit/>
          </a:bodyPr>
          <a:lstStyle/>
          <a:p>
            <a:r>
              <a:rPr lang="en-US" dirty="0"/>
              <a:t>Contact:</a:t>
            </a:r>
          </a:p>
          <a:p>
            <a:r>
              <a:rPr lang="en-US" dirty="0">
                <a:hlinkClick r:id="rId2"/>
              </a:rPr>
              <a:t>Email: ronohcollins@gmail.com</a:t>
            </a:r>
            <a:endParaRPr lang="en-US" dirty="0"/>
          </a:p>
          <a:p>
            <a:r>
              <a:rPr lang="en-US" dirty="0" err="1"/>
              <a:t>Linkedin</a:t>
            </a:r>
            <a:r>
              <a:rPr lang="en-US" dirty="0"/>
              <a:t> : </a:t>
            </a:r>
            <a:r>
              <a:rPr lang="en-US" dirty="0">
                <a:hlinkClick r:id="rId3"/>
              </a:rPr>
              <a:t>www.linkedin.com/in/collins-ronoh-3392319</a:t>
            </a:r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: https://github.com/ronohcollins/Phase_3_project</a:t>
            </a:r>
          </a:p>
        </p:txBody>
      </p:sp>
    </p:spTree>
    <p:extLst>
      <p:ext uri="{BB962C8B-B14F-4D97-AF65-F5344CB8AC3E}">
        <p14:creationId xmlns:p14="http://schemas.microsoft.com/office/powerpoint/2010/main" val="212411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402</TotalTime>
  <Words>403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H1N1 Vaccine uptake prediction: The 2019 H1N1 Flu and Seasonal Flu survey</vt:lpstr>
      <vt:lpstr>Overview</vt:lpstr>
      <vt:lpstr>Data</vt:lpstr>
      <vt:lpstr>Modelling</vt:lpstr>
      <vt:lpstr>Classification Report</vt:lpstr>
      <vt:lpstr>H1N1 Vaccine Effectiveness</vt:lpstr>
      <vt:lpstr>Doctor Recommendation on H1N1 Vaccine</vt:lpstr>
      <vt:lpstr>Age group Vs Vaccination distribution</vt:lpstr>
      <vt:lpstr>H1N1 Vaccine risk perception distribution</vt:lpstr>
      <vt:lpstr>Recommendation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Collins Ronoh</dc:creator>
  <cp:lastModifiedBy>Collins Ronoh</cp:lastModifiedBy>
  <cp:revision>5</cp:revision>
  <dcterms:created xsi:type="dcterms:W3CDTF">2026-03-22T14:16:47Z</dcterms:created>
  <dcterms:modified xsi:type="dcterms:W3CDTF">2026-03-23T10:07:12Z</dcterms:modified>
</cp:coreProperties>
</file>